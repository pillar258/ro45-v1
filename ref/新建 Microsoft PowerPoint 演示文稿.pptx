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2F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652" y="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65AB8B-93C9-8030-89E4-986A9813B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BF317B-63D4-C7F9-B527-F910AC8C8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979724-1F07-DEEC-7593-5F9767FB1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8427-1BCA-4AF1-B8BC-2EB67C3FF7BD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B89E62-AC5A-E009-57C3-6E53513FC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4B689F-B647-98DA-9B0D-F31D4389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E21-B375-438D-ADBC-468A3C322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288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6EF7DF-A963-8090-0FF0-218C7BCC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52928A-4B2A-E9F0-1F1F-874E63666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F0E472-E6F5-8306-2427-954AFCEA6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8427-1BCA-4AF1-B8BC-2EB67C3FF7BD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2C5F58-D007-B3F3-EA64-0F04C49FB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FB0883-7220-780A-29DD-7CE2A1EB9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E21-B375-438D-ADBC-468A3C322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482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502ED8-9BC0-62C1-DFBD-273D52651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EAD182-F1B8-41A5-53DA-DBBB83C8E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9E8D72-76CD-9D97-CF5F-463ECDFA7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8427-1BCA-4AF1-B8BC-2EB67C3FF7BD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77741B-91C5-4660-B701-3F66B65D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3A1013-813B-5C27-FE47-7CD2149BE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E21-B375-438D-ADBC-468A3C322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428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7D91E2-AEA5-48BC-8E8E-D487CAA8D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C2CE98-0908-7BC5-92E9-5FCC0629A4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C04C3A-F13E-E76F-3893-8F28F4074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3BBD1A-B3D6-ABC6-D028-2B8EED32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8427-1BCA-4AF1-B8BC-2EB67C3FF7BD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8090B4-5F5A-17A7-A031-2329148B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278DAE-C2E1-E996-3780-0CA374DE5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E21-B375-438D-ADBC-468A3C322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623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DD044-ED69-554A-127B-E8AC6CF9E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598F28-4DA0-D8BD-7394-9C0520934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D4B5E7-9C64-DB4A-E5FE-C275E7793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0F3F3DA-DC98-8C28-B53E-36BE1BCB80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DF48158-9F1F-375B-D4D8-9347129015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184AF38-F197-A919-8A00-C897D96AC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8427-1BCA-4AF1-B8BC-2EB67C3FF7BD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2018F18-5DBA-FEE9-B9BF-F1278B889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6E2E230-6223-40AF-ACE6-74F888E96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E21-B375-438D-ADBC-468A3C322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222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0B40A8-6090-9D75-B4BD-7F005B9DA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44C059-D7A7-169D-5602-FA4A55AE4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8427-1BCA-4AF1-B8BC-2EB67C3FF7BD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A92441-2394-2F1F-29C7-29FA0BF10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76C091-843F-0D6D-FB2D-AC011FF8A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E21-B375-438D-ADBC-468A3C322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614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5987ED4-0C37-C082-6DA7-235840E4A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8427-1BCA-4AF1-B8BC-2EB67C3FF7BD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FB963B-8C63-D646-4B48-435CCA748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53F652-32EF-83E3-6715-B9B44D60D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E21-B375-438D-ADBC-468A3C322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707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F66110-BEB8-A3A1-3F6D-BD8EE395B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5B34E3-6332-289E-889E-16338376E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AB0F27-FC98-E1A5-87EB-ED430DBD0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3C7B9B-81AA-CD1F-7371-C8CF3CBC9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8427-1BCA-4AF1-B8BC-2EB67C3FF7BD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A2D65F-0E99-34A8-7B44-F1968C159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245654-E8E6-5F17-33FC-210BC8F87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E21-B375-438D-ADBC-468A3C322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889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E52C5-45FF-345D-AB7B-4CFD18BA2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3EEA3C4-A948-6792-8BA7-A82809045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1B9F51-FEF1-89F2-65DB-778AC525B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073E74-2701-1A0B-9627-234A28ED3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8427-1BCA-4AF1-B8BC-2EB67C3FF7BD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3F0D07-583E-29A2-F6DD-E4A212BE1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541BCE-5205-02F9-6D53-6E9846C0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E21-B375-438D-ADBC-468A3C322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06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EB4119-445E-231E-01ED-E4564E2EB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DAC8CF-43B1-930B-83EF-2DBEDF6D9F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2BA2F8-FA23-3335-37F0-5CC45C0C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8427-1BCA-4AF1-B8BC-2EB67C3FF7BD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ADDE85-11BD-F287-6806-997A2A699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234371-0B28-7097-FCCB-6067F5530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E21-B375-438D-ADBC-468A3C322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349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78DA847-3933-335D-B01B-5D5E06DB8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3158BD-B472-FBAF-F064-E28EDE41D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F0082A-3DDA-4DD0-D460-D8EDC802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8427-1BCA-4AF1-B8BC-2EB67C3FF7BD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92C3FA-11C4-7A06-D280-417735710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8EA687-8D04-FD5E-448D-D9181D729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E21-B375-438D-ADBC-468A3C322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776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00A8604-7112-D719-D409-9C0889637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267047-6AF9-BDAA-9C6A-9983D7AC9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E44461-9E42-26D2-E70C-B113E4D461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28427-1BCA-4AF1-B8BC-2EB67C3FF7BD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57A9A0-8224-B3AB-5387-C0C3394CA0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A8C43F-059F-C159-FE66-36F110390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8FE21-B375-438D-ADBC-468A3C322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10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09064A6-EC94-97E2-F8B9-57834D9B49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254"/>
          <a:stretch>
            <a:fillRect/>
          </a:stretch>
        </p:blipFill>
        <p:spPr>
          <a:xfrm>
            <a:off x="733646" y="61323"/>
            <a:ext cx="10724707" cy="427431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0E013E8-FA1E-8BD4-B585-7A409AB3530E}"/>
              </a:ext>
            </a:extLst>
          </p:cNvPr>
          <p:cNvSpPr/>
          <p:nvPr/>
        </p:nvSpPr>
        <p:spPr>
          <a:xfrm>
            <a:off x="6117264" y="1111101"/>
            <a:ext cx="4919331" cy="275915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持牌法團數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0BF828-2C20-464C-65C5-AD89267C1985}"/>
              </a:ext>
            </a:extLst>
          </p:cNvPr>
          <p:cNvSpPr txBox="1"/>
          <p:nvPr/>
        </p:nvSpPr>
        <p:spPr>
          <a:xfrm>
            <a:off x="7736685" y="1105681"/>
            <a:ext cx="1974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u="sng" dirty="0"/>
              <a:t>Dashboard</a:t>
            </a:r>
            <a:r>
              <a:rPr lang="zh-CN" altLang="en-US" sz="1400" b="1" u="sng" dirty="0"/>
              <a:t>行業看板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5D54957-596B-9B6F-2F61-F6136B0F8359}"/>
              </a:ext>
            </a:extLst>
          </p:cNvPr>
          <p:cNvSpPr txBox="1"/>
          <p:nvPr/>
        </p:nvSpPr>
        <p:spPr>
          <a:xfrm>
            <a:off x="6117264" y="1515132"/>
            <a:ext cx="1974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持牌法團數量：</a:t>
            </a:r>
            <a:r>
              <a:rPr lang="en-US" altLang="zh-CN" sz="1400" dirty="0"/>
              <a:t>3,235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8105AA1-528D-5D23-F43A-4451C8160935}"/>
              </a:ext>
            </a:extLst>
          </p:cNvPr>
          <p:cNvSpPr txBox="1"/>
          <p:nvPr/>
        </p:nvSpPr>
        <p:spPr>
          <a:xfrm>
            <a:off x="8158443" y="1513689"/>
            <a:ext cx="2689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持牌人員數量：</a:t>
            </a:r>
            <a:r>
              <a:rPr lang="en-US" altLang="zh-CN" sz="1400" dirty="0"/>
              <a:t>43,701</a:t>
            </a:r>
          </a:p>
          <a:p>
            <a:pPr algn="ctr"/>
            <a:r>
              <a:rPr lang="zh-CN" altLang="en-US" sz="1400" dirty="0"/>
              <a:t>（</a:t>
            </a:r>
            <a:r>
              <a:rPr lang="en-US" altLang="zh-CN" sz="1400" dirty="0"/>
              <a:t>RO</a:t>
            </a:r>
            <a:r>
              <a:rPr lang="zh-CN" altLang="en-US" sz="1400" dirty="0"/>
              <a:t>：</a:t>
            </a:r>
            <a:r>
              <a:rPr lang="en-US" altLang="zh-CN" sz="1400" dirty="0"/>
              <a:t>8,912</a:t>
            </a:r>
            <a:r>
              <a:rPr lang="zh-CN" altLang="en-US" sz="1400" dirty="0"/>
              <a:t>人，</a:t>
            </a:r>
            <a:r>
              <a:rPr lang="en-US" altLang="zh-CN" sz="1400" dirty="0"/>
              <a:t>LR</a:t>
            </a:r>
            <a:r>
              <a:rPr lang="zh-CN" altLang="en-US" sz="1400" dirty="0"/>
              <a:t>：</a:t>
            </a:r>
            <a:r>
              <a:rPr lang="en-US" altLang="zh-CN" sz="1400" dirty="0"/>
              <a:t>34,789</a:t>
            </a:r>
            <a:r>
              <a:rPr lang="zh-CN" altLang="en-US" sz="1400" dirty="0"/>
              <a:t>人）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AD90CE2-12F1-6D12-7F8D-5DE98953C5E3}"/>
              </a:ext>
            </a:extLst>
          </p:cNvPr>
          <p:cNvSpPr txBox="1"/>
          <p:nvPr/>
        </p:nvSpPr>
        <p:spPr>
          <a:xfrm>
            <a:off x="6158095" y="2198481"/>
            <a:ext cx="4836782" cy="156171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800" dirty="0"/>
              <a:t>牌照信息：</a:t>
            </a:r>
            <a:endParaRPr lang="en-US" altLang="zh-CN" sz="800" dirty="0"/>
          </a:p>
          <a:p>
            <a:pPr>
              <a:lnSpc>
                <a:spcPct val="150000"/>
              </a:lnSpc>
            </a:pPr>
            <a:r>
              <a:rPr lang="zh-CN" altLang="en-US" sz="800" dirty="0"/>
              <a:t>出售：</a:t>
            </a:r>
            <a:endParaRPr lang="en-US" altLang="zh-CN" sz="800" dirty="0"/>
          </a:p>
          <a:p>
            <a:pPr>
              <a:lnSpc>
                <a:spcPct val="150000"/>
              </a:lnSpc>
            </a:pPr>
            <a:r>
              <a:rPr lang="zh-CN" altLang="en-US" sz="800" dirty="0"/>
              <a:t>①</a:t>
            </a:r>
            <a:r>
              <a:rPr lang="en-US" altLang="zh-CN" sz="800" dirty="0"/>
              <a:t>T4+9</a:t>
            </a:r>
            <a:r>
              <a:rPr lang="zh-CN" altLang="en-US" sz="800" dirty="0"/>
              <a:t>，小牌，不可持有客戶資產，有控股架構，價格</a:t>
            </a:r>
            <a:r>
              <a:rPr lang="en-US" altLang="zh-CN" sz="800" dirty="0"/>
              <a:t>HK$2.2m</a:t>
            </a:r>
          </a:p>
          <a:p>
            <a:pPr>
              <a:lnSpc>
                <a:spcPct val="150000"/>
              </a:lnSpc>
            </a:pPr>
            <a:r>
              <a:rPr lang="zh-CN" altLang="en-US" sz="800" dirty="0"/>
              <a:t>②</a:t>
            </a:r>
            <a:r>
              <a:rPr lang="en-US" altLang="zh-CN" sz="800" dirty="0"/>
              <a:t> T1+4+9</a:t>
            </a:r>
            <a:r>
              <a:rPr lang="zh-CN" altLang="en-US" sz="800" dirty="0"/>
              <a:t>，有交易權，全新，有控股架構，價格</a:t>
            </a:r>
            <a:r>
              <a:rPr lang="en-US" altLang="zh-CN" sz="800" dirty="0"/>
              <a:t>HK$5.5m</a:t>
            </a:r>
          </a:p>
          <a:p>
            <a:pPr>
              <a:lnSpc>
                <a:spcPct val="150000"/>
              </a:lnSpc>
            </a:pPr>
            <a:r>
              <a:rPr lang="zh-CN" altLang="en-US" sz="800" dirty="0"/>
              <a:t>求購：</a:t>
            </a:r>
            <a:endParaRPr lang="en-US" altLang="zh-CN" sz="800" dirty="0"/>
          </a:p>
          <a:p>
            <a:pPr>
              <a:lnSpc>
                <a:spcPct val="150000"/>
              </a:lnSpc>
            </a:pPr>
            <a:r>
              <a:rPr lang="zh-CN" altLang="en-US" sz="800" dirty="0"/>
              <a:t>①</a:t>
            </a:r>
            <a:r>
              <a:rPr lang="en-US" altLang="zh-CN" sz="800" dirty="0"/>
              <a:t>T1+4+9</a:t>
            </a:r>
            <a:r>
              <a:rPr lang="zh-CN" altLang="en-US" sz="800" dirty="0"/>
              <a:t>，無需交易權，小牌，預算</a:t>
            </a:r>
            <a:r>
              <a:rPr lang="en-US" altLang="zh-CN" sz="800" dirty="0"/>
              <a:t>HK$4m</a:t>
            </a:r>
          </a:p>
          <a:p>
            <a:pPr>
              <a:lnSpc>
                <a:spcPct val="150000"/>
              </a:lnSpc>
            </a:pPr>
            <a:r>
              <a:rPr lang="en-US" altLang="zh-CN" sz="800" dirty="0"/>
              <a:t>RO</a:t>
            </a:r>
            <a:r>
              <a:rPr lang="zh-CN" altLang="en-US" sz="800" dirty="0"/>
              <a:t>信息：</a:t>
            </a:r>
            <a:endParaRPr lang="en-US" altLang="zh-CN" sz="800" dirty="0"/>
          </a:p>
          <a:p>
            <a:pPr>
              <a:lnSpc>
                <a:spcPct val="150000"/>
              </a:lnSpc>
            </a:pPr>
            <a:r>
              <a:rPr lang="zh-CN" altLang="en-US" sz="800" dirty="0"/>
              <a:t>①</a:t>
            </a:r>
            <a:r>
              <a:rPr lang="en-US" altLang="zh-CN" sz="800" dirty="0"/>
              <a:t>RO</a:t>
            </a:r>
            <a:r>
              <a:rPr lang="zh-CN" altLang="en-US" sz="800" dirty="0"/>
              <a:t>：</a:t>
            </a:r>
            <a:r>
              <a:rPr lang="en-US" altLang="zh-CN" sz="800" dirty="0"/>
              <a:t>4+9</a:t>
            </a:r>
            <a:r>
              <a:rPr lang="zh-CN" altLang="en-US" sz="800" dirty="0"/>
              <a:t>，</a:t>
            </a:r>
            <a:r>
              <a:rPr lang="en-US" altLang="zh-CN" sz="800" dirty="0"/>
              <a:t>Silent RO</a:t>
            </a:r>
            <a:r>
              <a:rPr lang="zh-CN" altLang="en-US" sz="800" dirty="0"/>
              <a:t>，期望薪酬</a:t>
            </a:r>
            <a:r>
              <a:rPr lang="en-US" altLang="zh-CN" sz="800" dirty="0"/>
              <a:t>20-30k</a:t>
            </a:r>
            <a:r>
              <a:rPr lang="zh-CN" altLang="en-US" sz="800" dirty="0"/>
              <a:t>，隨時可入職</a:t>
            </a:r>
            <a:endParaRPr lang="en-US" altLang="zh-CN" sz="800" dirty="0"/>
          </a:p>
          <a:p>
            <a:pPr>
              <a:lnSpc>
                <a:spcPct val="150000"/>
              </a:lnSpc>
            </a:pPr>
            <a:r>
              <a:rPr lang="zh-CN" altLang="en-US" sz="800" dirty="0"/>
              <a:t>②</a:t>
            </a:r>
            <a:r>
              <a:rPr lang="en-US" altLang="zh-CN" sz="800" dirty="0"/>
              <a:t> RO</a:t>
            </a:r>
            <a:r>
              <a:rPr lang="zh-CN" altLang="en-US" sz="800" dirty="0"/>
              <a:t>：</a:t>
            </a:r>
            <a:r>
              <a:rPr lang="en-US" altLang="zh-CN" sz="800" dirty="0"/>
              <a:t>1+4+9</a:t>
            </a:r>
            <a:r>
              <a:rPr lang="zh-CN" altLang="en-US" sz="800" dirty="0"/>
              <a:t>，可做董事，期望薪酬</a:t>
            </a:r>
            <a:r>
              <a:rPr lang="en-US" altLang="zh-CN" sz="800" dirty="0"/>
              <a:t>50-70k</a:t>
            </a:r>
            <a:r>
              <a:rPr lang="zh-CN" altLang="en-US" sz="800" dirty="0"/>
              <a:t>，</a:t>
            </a:r>
            <a:r>
              <a:rPr lang="en-US" altLang="zh-CN" sz="800" dirty="0"/>
              <a:t>2026</a:t>
            </a:r>
            <a:r>
              <a:rPr lang="zh-CN" altLang="en-US" sz="800" dirty="0"/>
              <a:t>年</a:t>
            </a:r>
            <a:r>
              <a:rPr lang="en-US" altLang="zh-CN" sz="800" dirty="0"/>
              <a:t>1</a:t>
            </a:r>
            <a:r>
              <a:rPr lang="zh-CN" altLang="en-US" sz="800" dirty="0"/>
              <a:t>月可入職。</a:t>
            </a:r>
            <a:endParaRPr lang="en-US" altLang="zh-CN" sz="8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06A5415-8A8D-8A9E-1905-A7D884EA3327}"/>
              </a:ext>
            </a:extLst>
          </p:cNvPr>
          <p:cNvSpPr/>
          <p:nvPr/>
        </p:nvSpPr>
        <p:spPr>
          <a:xfrm>
            <a:off x="1044771" y="2313496"/>
            <a:ext cx="4515885" cy="224513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5B4CA80-285E-00C4-227F-6338FA3BB68D}"/>
              </a:ext>
            </a:extLst>
          </p:cNvPr>
          <p:cNvSpPr/>
          <p:nvPr/>
        </p:nvSpPr>
        <p:spPr>
          <a:xfrm>
            <a:off x="3997989" y="97666"/>
            <a:ext cx="5710767" cy="415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 dirty="0">
                <a:solidFill>
                  <a:schemeClr val="tx1"/>
                </a:solidFill>
              </a:rPr>
              <a:t>關於我們｜持牌法團｜牌照申請｜牌照出售｜牌照收購｜ </a:t>
            </a:r>
            <a:r>
              <a:rPr lang="en-US" altLang="zh-CN" sz="1200" dirty="0">
                <a:solidFill>
                  <a:schemeClr val="tx1"/>
                </a:solidFill>
              </a:rPr>
              <a:t>RO</a:t>
            </a:r>
            <a:r>
              <a:rPr lang="zh-CN" altLang="en-US" sz="1200" dirty="0">
                <a:solidFill>
                  <a:schemeClr val="tx1"/>
                </a:solidFill>
              </a:rPr>
              <a:t>資訊｜ </a:t>
            </a:r>
            <a:r>
              <a:rPr lang="en-US" altLang="zh-CN" sz="1200" dirty="0">
                <a:solidFill>
                  <a:schemeClr val="tx1"/>
                </a:solidFill>
              </a:rPr>
              <a:t>CPT</a:t>
            </a:r>
            <a:r>
              <a:rPr lang="zh-CN" altLang="en-US" sz="1200" dirty="0">
                <a:solidFill>
                  <a:schemeClr val="tx1"/>
                </a:solidFill>
              </a:rPr>
              <a:t>課程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A41C042-F3FD-8394-213F-7B907AAE72A7}"/>
              </a:ext>
            </a:extLst>
          </p:cNvPr>
          <p:cNvSpPr/>
          <p:nvPr/>
        </p:nvSpPr>
        <p:spPr>
          <a:xfrm>
            <a:off x="10072837" y="94956"/>
            <a:ext cx="1029904" cy="415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00" dirty="0">
                <a:solidFill>
                  <a:schemeClr val="tx1"/>
                </a:solidFill>
              </a:rPr>
              <a:t>繁</a:t>
            </a:r>
            <a:r>
              <a:rPr lang="en-US" altLang="zh-CN" sz="1000" dirty="0">
                <a:solidFill>
                  <a:schemeClr val="tx1"/>
                </a:solidFill>
              </a:rPr>
              <a:t>/</a:t>
            </a:r>
            <a:r>
              <a:rPr lang="zh-CN" altLang="en-US" sz="1000" dirty="0">
                <a:solidFill>
                  <a:schemeClr val="tx1"/>
                </a:solidFill>
              </a:rPr>
              <a:t>简</a:t>
            </a:r>
            <a:r>
              <a:rPr lang="en-US" altLang="zh-CN" sz="1000" dirty="0">
                <a:solidFill>
                  <a:schemeClr val="tx1"/>
                </a:solidFill>
              </a:rPr>
              <a:t>/EN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153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605002-1D36-3E96-CDEF-C2605C692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關於我們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411035-D7D7-B1AF-61F0-71974D1E3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開放的行業社區與發佈平臺</a:t>
            </a:r>
          </a:p>
        </p:txBody>
      </p:sp>
    </p:spTree>
    <p:extLst>
      <p:ext uri="{BB962C8B-B14F-4D97-AF65-F5344CB8AC3E}">
        <p14:creationId xmlns:p14="http://schemas.microsoft.com/office/powerpoint/2010/main" val="4218197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BE7B5E-126B-412E-420A-0B2AB8B6F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持牌法團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3FF792-3EB3-53C3-57DB-DF13A6A51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4620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1800" dirty="0"/>
              <a:t>每週更新介紹一間持牌法團，資訊包括：</a:t>
            </a:r>
            <a:endParaRPr lang="en-US" altLang="zh-CN" sz="1800" dirty="0"/>
          </a:p>
          <a:p>
            <a:endParaRPr lang="en-US" altLang="zh-CN" sz="1800" dirty="0"/>
          </a:p>
          <a:p>
            <a:r>
              <a:rPr lang="zh-CN" altLang="en-US" sz="1800" dirty="0"/>
              <a:t>公司名稱（中英文）</a:t>
            </a:r>
            <a:endParaRPr lang="en-US" altLang="zh-CN" sz="1800" dirty="0"/>
          </a:p>
          <a:p>
            <a:r>
              <a:rPr lang="zh-CN" altLang="en-US" sz="1800" dirty="0"/>
              <a:t>成立時間</a:t>
            </a:r>
            <a:endParaRPr lang="en-US" altLang="zh-CN" sz="1800" dirty="0"/>
          </a:p>
          <a:p>
            <a:r>
              <a:rPr lang="zh-CN" altLang="en-US" sz="1800" dirty="0"/>
              <a:t>中央編號</a:t>
            </a:r>
            <a:endParaRPr lang="en-US" altLang="zh-CN" sz="1800" dirty="0"/>
          </a:p>
          <a:p>
            <a:r>
              <a:rPr lang="zh-CN" altLang="en-US" sz="1800" dirty="0"/>
              <a:t>持牌類型</a:t>
            </a:r>
            <a:endParaRPr lang="en-US" altLang="zh-CN" sz="1800" dirty="0"/>
          </a:p>
          <a:p>
            <a:r>
              <a:rPr lang="zh-CN" altLang="en-US" sz="1800" dirty="0"/>
              <a:t>公司業務介紹</a:t>
            </a:r>
            <a:endParaRPr lang="en-US" altLang="zh-CN" sz="1800" dirty="0"/>
          </a:p>
          <a:p>
            <a:r>
              <a:rPr lang="zh-CN" altLang="en-US" sz="1800" dirty="0"/>
              <a:t>創始人</a:t>
            </a:r>
            <a:r>
              <a:rPr lang="en-US" altLang="zh-CN" sz="1800" dirty="0"/>
              <a:t>&amp;</a:t>
            </a:r>
            <a:r>
              <a:rPr lang="zh-CN" altLang="en-US" sz="1800" dirty="0"/>
              <a:t>高管團隊（可附照片）</a:t>
            </a:r>
            <a:endParaRPr lang="en-US" altLang="zh-CN" sz="1800" dirty="0"/>
          </a:p>
          <a:p>
            <a:r>
              <a:rPr lang="zh-CN" altLang="en-US" sz="1800" dirty="0"/>
              <a:t>公司網址</a:t>
            </a:r>
            <a:endParaRPr lang="en-US" altLang="zh-CN" sz="1800" dirty="0"/>
          </a:p>
          <a:p>
            <a:r>
              <a:rPr lang="zh-CN" altLang="en-US" sz="1800" dirty="0"/>
              <a:t>公司地址</a:t>
            </a:r>
            <a:endParaRPr lang="en-US" altLang="zh-CN" sz="1800" dirty="0"/>
          </a:p>
          <a:p>
            <a:r>
              <a:rPr lang="zh-CN" altLang="en-US" sz="1800" dirty="0"/>
              <a:t>聯絡電話</a:t>
            </a:r>
            <a:endParaRPr lang="en-US" altLang="zh-CN" sz="1800" dirty="0"/>
          </a:p>
          <a:p>
            <a:r>
              <a:rPr lang="zh-CN" altLang="en-US" sz="1800" dirty="0"/>
              <a:t>公司辦公場地圖片（可選）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322961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05E35F-0AF0-1AEF-51C3-58A3F0F04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牌照申請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CC9B11-7ACC-9155-1590-1CAE881A4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11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dirty="0"/>
              <a:t>點擊後進入：表格填寫頁面（類似問卷星），需要輸入以下資訊，用於前期諮詢：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r>
              <a:rPr lang="zh-CN" altLang="en-US" sz="1800" dirty="0"/>
              <a:t>申請人（公司或個人）</a:t>
            </a:r>
            <a:endParaRPr lang="en-US" altLang="zh-CN" sz="1800" dirty="0"/>
          </a:p>
          <a:p>
            <a:r>
              <a:rPr lang="zh-CN" altLang="en-US" sz="1800" dirty="0"/>
              <a:t>所在地區（填寫城市）</a:t>
            </a:r>
            <a:endParaRPr lang="en-US" altLang="zh-CN" sz="1800" dirty="0"/>
          </a:p>
          <a:p>
            <a:r>
              <a:rPr lang="zh-CN" altLang="en-US" sz="1800" dirty="0"/>
              <a:t>所屬行業與領域（選擇題）：金融行業（銀行、證券、保險、資產管理、財富管理、家族辦公室、</a:t>
            </a:r>
            <a:r>
              <a:rPr lang="en-US" altLang="zh-CN" sz="1800" dirty="0"/>
              <a:t>VC/PE</a:t>
            </a:r>
            <a:r>
              <a:rPr lang="zh-CN" altLang="en-US" sz="1800" dirty="0"/>
              <a:t>、對沖基金、量化基金、收購兼併，</a:t>
            </a:r>
            <a:r>
              <a:rPr lang="en-US" altLang="zh-CN" sz="1800" dirty="0"/>
              <a:t>IPO</a:t>
            </a:r>
            <a:r>
              <a:rPr lang="zh-CN" altLang="en-US" sz="1800" dirty="0"/>
              <a:t>、金融科技、加密貨幣），其他行業</a:t>
            </a:r>
            <a:r>
              <a:rPr lang="zh-CN" altLang="en-US" sz="1800" dirty="0">
                <a:sym typeface="Wingdings" panose="05000000000000000000" pitchFamily="2" charset="2"/>
              </a:rPr>
              <a:t>：請填寫</a:t>
            </a:r>
            <a:r>
              <a:rPr lang="en-US" altLang="zh-CN" sz="1800" u="sng" dirty="0"/>
              <a:t>      </a:t>
            </a:r>
            <a:endParaRPr lang="en-US" altLang="zh-CN" sz="1800" dirty="0"/>
          </a:p>
          <a:p>
            <a:r>
              <a:rPr lang="zh-CN" altLang="en-US" sz="1800" dirty="0"/>
              <a:t>擬申請牌照類型：</a:t>
            </a:r>
            <a:r>
              <a:rPr lang="en-US" altLang="zh-CN" sz="1800" dirty="0"/>
              <a:t>T1-13</a:t>
            </a:r>
            <a:r>
              <a:rPr lang="zh-CN" altLang="en-US" sz="1800" dirty="0"/>
              <a:t>（選擇題，可多選）</a:t>
            </a:r>
            <a:endParaRPr lang="en-US" altLang="zh-CN" sz="1800" dirty="0"/>
          </a:p>
          <a:p>
            <a:r>
              <a:rPr lang="zh-CN" altLang="en-US" sz="1800" dirty="0"/>
              <a:t>是否已有</a:t>
            </a:r>
            <a:r>
              <a:rPr lang="en-US" altLang="zh-CN" sz="1800" dirty="0"/>
              <a:t>RO</a:t>
            </a:r>
            <a:r>
              <a:rPr lang="zh-CN" altLang="en-US" sz="1800" dirty="0"/>
              <a:t>（負責人員）候選人？</a:t>
            </a:r>
            <a:endParaRPr lang="en-US" altLang="zh-CN" sz="1800" dirty="0"/>
          </a:p>
          <a:p>
            <a:r>
              <a:rPr lang="zh-CN" altLang="en-US" sz="1800" dirty="0"/>
              <a:t>聯繫電話</a:t>
            </a:r>
            <a:endParaRPr lang="en-US" altLang="zh-CN" sz="1800" dirty="0"/>
          </a:p>
          <a:p>
            <a:r>
              <a:rPr lang="zh-CN" altLang="en-US" sz="1800" dirty="0"/>
              <a:t>郵箱</a:t>
            </a:r>
            <a:endParaRPr lang="en-US" altLang="zh-CN" sz="1800" dirty="0"/>
          </a:p>
          <a:p>
            <a:r>
              <a:rPr lang="zh-CN" altLang="en-US" sz="1800" dirty="0"/>
              <a:t>微信</a:t>
            </a: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632572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03F9A-546D-6764-2AC7-1BBDD7487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牌照出售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A7A5ACA-40B3-4845-716E-E0A1FA2C9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05" y="1723289"/>
            <a:ext cx="5705867" cy="4351338"/>
          </a:xfr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4C8A03E-8B43-99EE-D37C-410F6DB909B8}"/>
              </a:ext>
            </a:extLst>
          </p:cNvPr>
          <p:cNvSpPr/>
          <p:nvPr/>
        </p:nvSpPr>
        <p:spPr>
          <a:xfrm>
            <a:off x="385011" y="1636295"/>
            <a:ext cx="1592981" cy="44709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85EEEDD-8978-A9C9-E86F-C36EAFFE9344}"/>
              </a:ext>
            </a:extLst>
          </p:cNvPr>
          <p:cNvSpPr txBox="1"/>
          <p:nvPr/>
        </p:nvSpPr>
        <p:spPr>
          <a:xfrm>
            <a:off x="7330841" y="2329934"/>
            <a:ext cx="37815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用戶註冊、登錄後，填寫紅框內要素：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增加：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公司名稱：英文（必填）</a:t>
            </a:r>
            <a:r>
              <a:rPr lang="en-US" altLang="zh-CN" dirty="0"/>
              <a:t>+</a:t>
            </a:r>
            <a:r>
              <a:rPr lang="zh-CN" altLang="en-US" dirty="0"/>
              <a:t>中文（選填），公司名稱資訊發佈時會隱藏，主要用於平臺資訊收集，和驗證。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是否有控股架構？</a:t>
            </a:r>
          </a:p>
        </p:txBody>
      </p:sp>
    </p:spTree>
    <p:extLst>
      <p:ext uri="{BB962C8B-B14F-4D97-AF65-F5344CB8AC3E}">
        <p14:creationId xmlns:p14="http://schemas.microsoft.com/office/powerpoint/2010/main" val="1592736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9DE503-08D1-95C1-7EEF-04E371E84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牌照收購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8BC71E-9C13-9411-D7B3-5D2586C43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收購方人（公司或個人）</a:t>
            </a:r>
            <a:endParaRPr lang="en-US" altLang="zh-CN" sz="1800" dirty="0"/>
          </a:p>
          <a:p>
            <a:r>
              <a:rPr lang="zh-CN" altLang="en-US" sz="1800" dirty="0"/>
              <a:t>所在地區（填寫城市）</a:t>
            </a:r>
            <a:endParaRPr lang="en-US" altLang="zh-CN" sz="1800" dirty="0"/>
          </a:p>
          <a:p>
            <a:r>
              <a:rPr lang="zh-CN" altLang="en-US" sz="1800" dirty="0"/>
              <a:t>所屬行業與領域（選擇題）：金融行業（銀行、證券、保險、資產管理、財富管理、家族辦公室、</a:t>
            </a:r>
            <a:r>
              <a:rPr lang="en-US" altLang="zh-CN" sz="1800" dirty="0"/>
              <a:t>VC/PE</a:t>
            </a:r>
            <a:r>
              <a:rPr lang="zh-CN" altLang="en-US" sz="1800" dirty="0"/>
              <a:t>、對沖基金、量化基金、收購兼併，</a:t>
            </a:r>
            <a:r>
              <a:rPr lang="en-US" altLang="zh-CN" sz="1800" dirty="0"/>
              <a:t>IPO</a:t>
            </a:r>
            <a:r>
              <a:rPr lang="zh-CN" altLang="en-US" sz="1800" dirty="0"/>
              <a:t>、金融科技、加密貨幣），其他行業</a:t>
            </a:r>
            <a:r>
              <a:rPr lang="zh-CN" altLang="en-US" sz="1800" dirty="0">
                <a:sym typeface="Wingdings" panose="05000000000000000000" pitchFamily="2" charset="2"/>
              </a:rPr>
              <a:t>：請填寫</a:t>
            </a:r>
            <a:r>
              <a:rPr lang="en-US" altLang="zh-CN" sz="1800" u="sng" dirty="0"/>
              <a:t>      </a:t>
            </a:r>
            <a:endParaRPr lang="en-US" altLang="zh-CN" sz="1800" dirty="0"/>
          </a:p>
          <a:p>
            <a:r>
              <a:rPr lang="zh-CN" altLang="en-US" sz="1800" dirty="0"/>
              <a:t>擬收購牌照類型：</a:t>
            </a:r>
            <a:r>
              <a:rPr lang="en-US" altLang="zh-CN" sz="1800" dirty="0"/>
              <a:t>T1-13</a:t>
            </a:r>
            <a:r>
              <a:rPr lang="zh-CN" altLang="en-US" sz="1800" dirty="0"/>
              <a:t>（選擇題，可多選）</a:t>
            </a:r>
            <a:endParaRPr lang="en-US" altLang="zh-CN" sz="1800" dirty="0"/>
          </a:p>
          <a:p>
            <a:r>
              <a:rPr lang="zh-CN" altLang="en-US" sz="1800" dirty="0"/>
              <a:t>預算</a:t>
            </a:r>
            <a:endParaRPr lang="en-US" altLang="zh-CN" sz="1800" dirty="0"/>
          </a:p>
          <a:p>
            <a:r>
              <a:rPr lang="zh-CN" altLang="en-US" sz="1800" dirty="0"/>
              <a:t>聯繫電話</a:t>
            </a:r>
            <a:endParaRPr lang="en-US" altLang="zh-CN" sz="1800" dirty="0"/>
          </a:p>
          <a:p>
            <a:r>
              <a:rPr lang="zh-CN" altLang="en-US" sz="1800" dirty="0"/>
              <a:t>郵箱</a:t>
            </a:r>
            <a:endParaRPr lang="en-US" altLang="zh-CN" sz="1800" dirty="0"/>
          </a:p>
          <a:p>
            <a:r>
              <a:rPr lang="zh-CN" altLang="en-US" sz="1800" dirty="0"/>
              <a:t>微信</a:t>
            </a: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588540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BD2C87-5741-B548-4075-5C5E2E2A1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2"/>
          <a:lstStyle/>
          <a:p>
            <a:r>
              <a:rPr lang="en-US" altLang="zh-CN" dirty="0"/>
              <a:t>RO</a:t>
            </a:r>
            <a:r>
              <a:rPr lang="zh-CN" altLang="en-US" dirty="0"/>
              <a:t>資訊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6F2AA8-EAD7-D730-BB55-F68025662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66" y="1501541"/>
            <a:ext cx="11141242" cy="4788568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zh-CN" altLang="en-US" sz="1400" dirty="0"/>
              <a:t>分為：“我是</a:t>
            </a:r>
            <a:r>
              <a:rPr lang="en-US" altLang="zh-CN" sz="1400" dirty="0"/>
              <a:t>RO </a:t>
            </a:r>
            <a:r>
              <a:rPr lang="zh-CN" altLang="en-US" sz="1400" dirty="0"/>
              <a:t>” 和“尋找</a:t>
            </a:r>
            <a:r>
              <a:rPr lang="en-US" altLang="zh-CN" sz="1400" dirty="0"/>
              <a:t>RO</a:t>
            </a:r>
            <a:r>
              <a:rPr lang="zh-CN" altLang="en-US" sz="1400" dirty="0"/>
              <a:t>”</a:t>
            </a:r>
            <a:endParaRPr lang="en-US" altLang="zh-CN" sz="1400" dirty="0"/>
          </a:p>
          <a:p>
            <a:pPr marL="0" indent="0">
              <a:buNone/>
            </a:pPr>
            <a:endParaRPr lang="en-US" altLang="zh-CN" sz="1400" dirty="0"/>
          </a:p>
          <a:p>
            <a:pPr marL="0" indent="0">
              <a:buNone/>
            </a:pPr>
            <a:r>
              <a:rPr lang="zh-CN" altLang="en-US" sz="1400" dirty="0"/>
              <a:t>我是</a:t>
            </a:r>
            <a:r>
              <a:rPr lang="en-US" altLang="zh-CN" sz="1400" dirty="0"/>
              <a:t>RO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zh-CN" altLang="en-US" sz="1400" dirty="0"/>
              <a:t>姓名（中文</a:t>
            </a:r>
            <a:r>
              <a:rPr lang="en-US" altLang="zh-CN" sz="1400" dirty="0"/>
              <a:t>+</a:t>
            </a:r>
            <a:r>
              <a:rPr lang="zh-CN" altLang="en-US" sz="1400" dirty="0"/>
              <a:t>英文）</a:t>
            </a:r>
            <a:endParaRPr lang="en-US" altLang="zh-CN" sz="1400" dirty="0"/>
          </a:p>
          <a:p>
            <a:r>
              <a:rPr lang="zh-CN" altLang="en-US" sz="1400" dirty="0"/>
              <a:t>中央編號</a:t>
            </a:r>
            <a:endParaRPr lang="en-US" altLang="zh-CN" sz="1400" dirty="0"/>
          </a:p>
          <a:p>
            <a:r>
              <a:rPr lang="zh-CN" altLang="en-US" sz="1400" dirty="0"/>
              <a:t>持有牌照類型（選擇</a:t>
            </a:r>
            <a:r>
              <a:rPr lang="en-US" altLang="zh-CN" sz="1400" dirty="0"/>
              <a:t>1-13</a:t>
            </a:r>
            <a:r>
              <a:rPr lang="zh-CN" altLang="en-US" sz="1400" dirty="0"/>
              <a:t>，可多選）</a:t>
            </a:r>
            <a:endParaRPr lang="en-US" altLang="zh-CN" sz="1400" dirty="0"/>
          </a:p>
          <a:p>
            <a:r>
              <a:rPr lang="zh-CN" altLang="en-US" sz="1400" dirty="0"/>
              <a:t>行業經驗（單選題）：</a:t>
            </a:r>
            <a:r>
              <a:rPr lang="en-US" altLang="zh-CN" sz="1400" dirty="0"/>
              <a:t>1-5</a:t>
            </a:r>
            <a:r>
              <a:rPr lang="zh-CN" altLang="en-US" sz="1400" dirty="0"/>
              <a:t>年，</a:t>
            </a:r>
            <a:r>
              <a:rPr lang="en-US" altLang="zh-CN" sz="1400" dirty="0"/>
              <a:t>6-10</a:t>
            </a:r>
            <a:r>
              <a:rPr lang="zh-CN" altLang="en-US" sz="1400" dirty="0"/>
              <a:t>年，</a:t>
            </a:r>
            <a:r>
              <a:rPr lang="en-US" altLang="zh-CN" sz="1400" dirty="0"/>
              <a:t>10</a:t>
            </a:r>
            <a:r>
              <a:rPr lang="zh-CN" altLang="en-US" sz="1400" dirty="0"/>
              <a:t>年以上</a:t>
            </a:r>
            <a:endParaRPr lang="en-US" altLang="zh-CN" sz="1400" dirty="0"/>
          </a:p>
          <a:p>
            <a:r>
              <a:rPr lang="zh-CN" altLang="en-US" sz="1400" dirty="0"/>
              <a:t>語言（多選題：粵語、英語、普通話、日語、韓語、西班牙語、法語、阿拉伯語、其他）</a:t>
            </a:r>
            <a:endParaRPr lang="en-US" altLang="zh-CN" sz="1400" dirty="0"/>
          </a:p>
          <a:p>
            <a:r>
              <a:rPr lang="zh-CN" altLang="en-US" sz="1400" dirty="0"/>
              <a:t>是否可任董事</a:t>
            </a:r>
            <a:endParaRPr lang="en-US" altLang="zh-CN" sz="1400" dirty="0"/>
          </a:p>
          <a:p>
            <a:r>
              <a:rPr lang="zh-CN" altLang="en-US" sz="1400" dirty="0"/>
              <a:t>是否常駐香港</a:t>
            </a:r>
            <a:endParaRPr lang="en-US" altLang="zh-CN" sz="1400" dirty="0"/>
          </a:p>
          <a:p>
            <a:r>
              <a:rPr lang="zh-CN" altLang="en-US" sz="1400" dirty="0"/>
              <a:t>入職時間</a:t>
            </a:r>
            <a:endParaRPr lang="en-US" altLang="zh-CN" sz="1400" dirty="0"/>
          </a:p>
          <a:p>
            <a:r>
              <a:rPr lang="zh-CN" altLang="en-US" sz="1400" dirty="0"/>
              <a:t>期望薪酬</a:t>
            </a:r>
            <a:endParaRPr lang="en-US" altLang="zh-CN" sz="1400" dirty="0"/>
          </a:p>
          <a:p>
            <a:r>
              <a:rPr lang="zh-CN" altLang="en-US" sz="1400" dirty="0"/>
              <a:t>聯繫方式（手機</a:t>
            </a:r>
            <a:r>
              <a:rPr lang="en-US" altLang="zh-CN" sz="1400" dirty="0"/>
              <a:t>+</a:t>
            </a:r>
            <a:r>
              <a:rPr lang="zh-CN" altLang="en-US" sz="1400" dirty="0"/>
              <a:t>郵箱）</a:t>
            </a:r>
            <a:endParaRPr lang="en-US" altLang="zh-CN" sz="1400" dirty="0"/>
          </a:p>
          <a:p>
            <a:r>
              <a:rPr lang="en-US" altLang="zh-CN" sz="1400" dirty="0"/>
              <a:t>CV</a:t>
            </a:r>
            <a:r>
              <a:rPr lang="zh-CN" altLang="en-US" sz="1400" dirty="0"/>
              <a:t>上傳</a:t>
            </a:r>
            <a:endParaRPr lang="en-US" altLang="zh-CN" sz="1400" dirty="0"/>
          </a:p>
          <a:p>
            <a:pPr marL="0" indent="0">
              <a:buNone/>
            </a:pPr>
            <a:endParaRPr lang="en-US" altLang="zh-CN" sz="1400" dirty="0"/>
          </a:p>
          <a:p>
            <a:endParaRPr lang="en-US" altLang="zh-CN" sz="1400" dirty="0"/>
          </a:p>
          <a:p>
            <a:pPr marL="0" indent="0">
              <a:buNone/>
            </a:pPr>
            <a:r>
              <a:rPr lang="zh-CN" altLang="en-US" sz="1400" dirty="0"/>
              <a:t>尋找</a:t>
            </a:r>
            <a:r>
              <a:rPr lang="en-US" altLang="zh-CN" sz="1400" dirty="0"/>
              <a:t>RO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zh-CN" altLang="en-US" sz="1400" dirty="0"/>
              <a:t>公司名稱（英文</a:t>
            </a:r>
            <a:r>
              <a:rPr lang="en-US" altLang="zh-CN" sz="1400" dirty="0"/>
              <a:t>+</a:t>
            </a:r>
            <a:r>
              <a:rPr lang="zh-CN" altLang="en-US" sz="1400" dirty="0"/>
              <a:t>中文）</a:t>
            </a:r>
            <a:endParaRPr lang="en-US" altLang="zh-CN" sz="1400" dirty="0"/>
          </a:p>
          <a:p>
            <a:r>
              <a:rPr lang="zh-CN" altLang="en-US" sz="1400" dirty="0"/>
              <a:t>中央編號（申請中可能沒有，可選填）</a:t>
            </a:r>
            <a:endParaRPr lang="en-US" altLang="zh-CN" sz="1400" dirty="0"/>
          </a:p>
          <a:p>
            <a:r>
              <a:rPr lang="zh-CN" altLang="en-US" sz="1400" dirty="0"/>
              <a:t>牌照類型（多選</a:t>
            </a:r>
            <a:r>
              <a:rPr lang="en-US" altLang="zh-CN" sz="1400" dirty="0"/>
              <a:t>1-13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zh-CN" altLang="en-US" sz="1400" dirty="0"/>
              <a:t>辦公地址</a:t>
            </a:r>
            <a:endParaRPr lang="en-US" altLang="zh-CN" sz="1400" dirty="0"/>
          </a:p>
          <a:p>
            <a:r>
              <a:rPr lang="zh-CN" altLang="en-US" sz="1400" dirty="0"/>
              <a:t>薪酬待遇</a:t>
            </a:r>
            <a:endParaRPr lang="en-US" altLang="zh-CN" sz="1400" dirty="0"/>
          </a:p>
          <a:p>
            <a:r>
              <a:rPr lang="zh-CN" altLang="en-US" sz="1400" dirty="0"/>
              <a:t>連絡人姓名</a:t>
            </a:r>
            <a:endParaRPr lang="en-US" altLang="zh-CN" sz="1400" dirty="0"/>
          </a:p>
          <a:p>
            <a:r>
              <a:rPr lang="zh-CN" altLang="en-US" sz="1400" dirty="0"/>
              <a:t>連絡人職位</a:t>
            </a:r>
            <a:endParaRPr lang="en-US" altLang="zh-CN" sz="1400" dirty="0"/>
          </a:p>
          <a:p>
            <a:r>
              <a:rPr lang="zh-CN" altLang="en-US" sz="1400" dirty="0"/>
              <a:t>聯繫方式（手機</a:t>
            </a:r>
            <a:r>
              <a:rPr lang="en-US" altLang="zh-CN" sz="1400" dirty="0"/>
              <a:t>+</a:t>
            </a:r>
            <a:r>
              <a:rPr lang="zh-CN" altLang="en-US" sz="1400" dirty="0"/>
              <a:t>郵箱）</a:t>
            </a:r>
            <a:endParaRPr lang="en-US" altLang="zh-CN" sz="1400" dirty="0"/>
          </a:p>
          <a:p>
            <a:r>
              <a:rPr lang="zh-CN" altLang="en-US" sz="1400" dirty="0"/>
              <a:t>其他要求</a:t>
            </a:r>
            <a:endParaRPr lang="en-US" altLang="zh-CN" sz="1400" dirty="0"/>
          </a:p>
          <a:p>
            <a:r>
              <a:rPr lang="zh-CN" altLang="en-US" sz="1400" dirty="0"/>
              <a:t>上傳名片</a:t>
            </a:r>
          </a:p>
        </p:txBody>
      </p:sp>
    </p:spTree>
    <p:extLst>
      <p:ext uri="{BB962C8B-B14F-4D97-AF65-F5344CB8AC3E}">
        <p14:creationId xmlns:p14="http://schemas.microsoft.com/office/powerpoint/2010/main" val="1537462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1ECE0-5B9E-A81A-6085-F2511F50B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CPT</a:t>
            </a:r>
            <a:r>
              <a:rPr lang="zh-CN" altLang="en-US" dirty="0"/>
              <a:t>課程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6A4A6F-67AC-B630-67BC-6CD06F1A7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dirty="0"/>
              <a:t>主頁可顯示</a:t>
            </a:r>
            <a:r>
              <a:rPr lang="en-US" altLang="zh-CN" sz="1800" dirty="0"/>
              <a:t>4-6</a:t>
            </a:r>
            <a:r>
              <a:rPr lang="zh-CN" altLang="en-US" sz="1800" dirty="0"/>
              <a:t>門課程，點擊後跳轉至：</a:t>
            </a:r>
            <a:r>
              <a:rPr lang="en-US" altLang="zh-CN" sz="1800" dirty="0"/>
              <a:t>HKAWM</a:t>
            </a:r>
            <a:r>
              <a:rPr lang="zh-CN" altLang="en-US" sz="1800" dirty="0"/>
              <a:t>小鵝通介面</a:t>
            </a: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437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823</Words>
  <Application>Microsoft Office PowerPoint</Application>
  <PresentationFormat>宽屏</PresentationFormat>
  <Paragraphs>89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Arial</vt:lpstr>
      <vt:lpstr>Wingdings</vt:lpstr>
      <vt:lpstr>Office 主题​​</vt:lpstr>
      <vt:lpstr>PowerPoint 演示文稿</vt:lpstr>
      <vt:lpstr>關於我們</vt:lpstr>
      <vt:lpstr>持牌法團</vt:lpstr>
      <vt:lpstr>牌照申請</vt:lpstr>
      <vt:lpstr>牌照出售</vt:lpstr>
      <vt:lpstr>牌照收購</vt:lpstr>
      <vt:lpstr>RO資訊</vt:lpstr>
      <vt:lpstr>CPT課程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 SilkyWater</dc:creator>
  <cp:lastModifiedBy>SZ SilkyWater</cp:lastModifiedBy>
  <cp:revision>1</cp:revision>
  <dcterms:created xsi:type="dcterms:W3CDTF">2025-11-20T07:58:35Z</dcterms:created>
  <dcterms:modified xsi:type="dcterms:W3CDTF">2025-11-20T10:12:16Z</dcterms:modified>
</cp:coreProperties>
</file>