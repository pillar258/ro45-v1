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2" r:id="rId4"/>
    <p:sldId id="260" r:id="rId5"/>
    <p:sldId id="263" r:id="rId6"/>
    <p:sldId id="256" r:id="rId7"/>
    <p:sldId id="257" r:id="rId8"/>
    <p:sldId id="258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1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672" y="115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D57E8-1EFB-4C26-868D-EAE0558D08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D3C05-5177-4D4E-916A-61B9162A91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b="13978"/>
          <a:stretch>
            <a:fillRect/>
          </a:stretch>
        </p:blipFill>
        <p:spPr>
          <a:xfrm>
            <a:off x="5497" y="0"/>
            <a:ext cx="9934916" cy="58993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43897" y="75889"/>
            <a:ext cx="34412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50" b="1" dirty="0">
                <a:solidFill>
                  <a:srgbClr val="FF0000"/>
                </a:solidFill>
              </a:rPr>
              <a:t>为金融人士打造的开放式行业</a:t>
            </a:r>
            <a:r>
              <a:rPr lang="zh-CN" altLang="en-US" sz="1050" b="1" dirty="0">
                <a:solidFill>
                  <a:srgbClr val="FF0000"/>
                </a:solidFill>
              </a:rPr>
              <a:t>社区</a:t>
            </a:r>
            <a:r>
              <a:rPr lang="zh-TW" altLang="en-US" sz="1050" b="1" dirty="0">
                <a:solidFill>
                  <a:srgbClr val="FF0000"/>
                </a:solidFill>
              </a:rPr>
              <a:t>与</a:t>
            </a:r>
            <a:r>
              <a:rPr lang="zh-CN" altLang="en-US" sz="1050" b="1" dirty="0">
                <a:solidFill>
                  <a:srgbClr val="FF0000"/>
                </a:solidFill>
              </a:rPr>
              <a:t>资讯</a:t>
            </a:r>
            <a:r>
              <a:rPr lang="zh-TW" altLang="en-US" sz="1050" b="1" dirty="0">
                <a:solidFill>
                  <a:srgbClr val="FF0000"/>
                </a:solidFill>
              </a:rPr>
              <a:t>发布平台</a:t>
            </a:r>
            <a:endParaRPr lang="zh-CN" altLang="en-US" sz="1050" b="1" dirty="0">
              <a:solidFill>
                <a:srgbClr val="FF0000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4454013" y="202847"/>
            <a:ext cx="53290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758777" y="305649"/>
            <a:ext cx="6571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请修改为： 我要发布   牌照获取   牌照转让   </a:t>
            </a:r>
            <a:r>
              <a:rPr lang="en-US" altLang="zh-CN" sz="1200" b="1" dirty="0">
                <a:solidFill>
                  <a:srgbClr val="FF0000"/>
                </a:solidFill>
              </a:rPr>
              <a:t>RO</a:t>
            </a:r>
            <a:r>
              <a:rPr lang="zh-CN" altLang="en-US" sz="1200" b="1" dirty="0">
                <a:solidFill>
                  <a:srgbClr val="FF0000"/>
                </a:solidFill>
              </a:rPr>
              <a:t>资讯   </a:t>
            </a:r>
            <a:r>
              <a:rPr lang="en-US" altLang="zh-CN" sz="1200" b="1" dirty="0">
                <a:solidFill>
                  <a:srgbClr val="FF0000"/>
                </a:solidFill>
              </a:rPr>
              <a:t>CPT</a:t>
            </a:r>
            <a:r>
              <a:rPr lang="zh-CN" altLang="en-US" sz="1200" b="1" dirty="0">
                <a:solidFill>
                  <a:srgbClr val="FF0000"/>
                </a:solidFill>
              </a:rPr>
              <a:t>课程   登录   简体</a:t>
            </a:r>
            <a:r>
              <a:rPr lang="en-US" altLang="zh-CN" sz="1200" b="1" dirty="0">
                <a:solidFill>
                  <a:srgbClr val="FF0000"/>
                </a:solidFill>
              </a:rPr>
              <a:t>/EN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940413" y="1059075"/>
            <a:ext cx="2123767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这里显示</a:t>
            </a:r>
            <a:r>
              <a:rPr lang="en-US" altLang="zh-CN" sz="1600" b="1" dirty="0">
                <a:solidFill>
                  <a:srgbClr val="FF0000"/>
                </a:solidFill>
              </a:rPr>
              <a:t>3-4</a:t>
            </a:r>
            <a:r>
              <a:rPr lang="zh-CN" altLang="en-US" sz="1600" b="1" dirty="0">
                <a:solidFill>
                  <a:srgbClr val="FF0000"/>
                </a:solidFill>
              </a:rPr>
              <a:t>个图片，内容来自“我要发布”里面的公司介绍，以及“</a:t>
            </a:r>
            <a:r>
              <a:rPr lang="en-US" altLang="zh-CN" sz="1600" b="1" dirty="0">
                <a:solidFill>
                  <a:srgbClr val="FF0000"/>
                </a:solidFill>
              </a:rPr>
              <a:t>RO</a:t>
            </a:r>
            <a:r>
              <a:rPr lang="zh-CN" altLang="en-US" sz="1600" b="1" dirty="0">
                <a:solidFill>
                  <a:srgbClr val="FF0000"/>
                </a:solidFill>
              </a:rPr>
              <a:t>信息”里面的</a:t>
            </a:r>
            <a:r>
              <a:rPr lang="en-US" altLang="zh-CN" sz="1600" b="1" dirty="0">
                <a:solidFill>
                  <a:srgbClr val="FF0000"/>
                </a:solidFill>
              </a:rPr>
              <a:t>RO</a:t>
            </a:r>
            <a:r>
              <a:rPr lang="zh-CN" altLang="en-US" sz="1600" b="1" dirty="0">
                <a:solidFill>
                  <a:srgbClr val="FF0000"/>
                </a:solidFill>
              </a:rPr>
              <a:t>信息，主要显示“公司”和“个人”的内容，类似广告栏的作用。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426" y="0"/>
            <a:ext cx="9207148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99360" y="4739005"/>
            <a:ext cx="7126605" cy="2035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2389239" y="4857135"/>
            <a:ext cx="7374193" cy="17501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2546555" y="4916129"/>
            <a:ext cx="6961239" cy="17304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494251" y="5547359"/>
            <a:ext cx="1335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删除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2546555" y="4403155"/>
            <a:ext cx="69612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Roboto" panose="02000000000000000000" pitchFamily="2" charset="0"/>
              </a:rPr>
              <a:t>© 2025 RO149 </a:t>
            </a:r>
            <a:r>
              <a:rPr lang="zh-CN" altLang="en-US" sz="1200" b="0" i="0" dirty="0">
                <a:effectLst/>
                <a:latin typeface="Roboto" panose="02000000000000000000" pitchFamily="2" charset="0"/>
              </a:rPr>
              <a:t>版权所有                                                                              联络邮箱：</a:t>
            </a:r>
            <a:r>
              <a:rPr lang="en-US" altLang="zh-CN" sz="1200" b="0" i="0" dirty="0">
                <a:effectLst/>
                <a:latin typeface="Roboto" panose="02000000000000000000" pitchFamily="2" charset="0"/>
              </a:rPr>
              <a:t>enquiry@</a:t>
            </a:r>
            <a:r>
              <a:rPr lang="en-US" altLang="zh-CN" sz="1200" dirty="0">
                <a:latin typeface="Roboto" panose="02000000000000000000" pitchFamily="2" charset="0"/>
              </a:rPr>
              <a:t>ro1</a:t>
            </a:r>
            <a:r>
              <a:rPr lang="en-US" altLang="zh-CN" sz="1200" b="0" i="0" dirty="0">
                <a:effectLst/>
                <a:latin typeface="Roboto" panose="02000000000000000000" pitchFamily="2" charset="0"/>
              </a:rPr>
              <a:t>49.com</a:t>
            </a:r>
            <a:endParaRPr lang="zh-CN" altLang="en-US" sz="1200" dirty="0"/>
          </a:p>
        </p:txBody>
      </p:sp>
      <p:sp>
        <p:nvSpPr>
          <p:cNvPr id="14" name="矩形 13"/>
          <p:cNvSpPr/>
          <p:nvPr/>
        </p:nvSpPr>
        <p:spPr>
          <a:xfrm>
            <a:off x="2546554" y="3815678"/>
            <a:ext cx="2202426" cy="50390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</a:rPr>
              <a:t>持牌法团</a:t>
            </a:r>
            <a:r>
              <a:rPr lang="en-US" altLang="zh-CN" sz="1200" dirty="0">
                <a:solidFill>
                  <a:srgbClr val="FF0000"/>
                </a:solidFill>
              </a:rPr>
              <a:t>LC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algn="ctr"/>
            <a:r>
              <a:rPr lang="en-US" altLang="zh-CN" sz="1200" dirty="0">
                <a:solidFill>
                  <a:srgbClr val="FF0000"/>
                </a:solidFill>
              </a:rPr>
              <a:t>3,290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86633" y="3815677"/>
            <a:ext cx="2202426" cy="50390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</a:rPr>
              <a:t>负责人员</a:t>
            </a:r>
            <a:r>
              <a:rPr lang="en-US" altLang="zh-CN" sz="1200" dirty="0">
                <a:solidFill>
                  <a:srgbClr val="FF0000"/>
                </a:solidFill>
              </a:rPr>
              <a:t>RO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algn="ctr"/>
            <a:r>
              <a:rPr lang="en-US" altLang="zh-CN" sz="1200" dirty="0">
                <a:solidFill>
                  <a:srgbClr val="FF0000"/>
                </a:solidFill>
              </a:rPr>
              <a:t>9,556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26712" y="3815676"/>
            <a:ext cx="2202426" cy="50390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</a:rPr>
              <a:t>持牌代表</a:t>
            </a:r>
            <a:r>
              <a:rPr lang="en-US" altLang="zh-CN" sz="1200" dirty="0">
                <a:solidFill>
                  <a:srgbClr val="FF0000"/>
                </a:solidFill>
              </a:rPr>
              <a:t>LR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algn="ctr"/>
            <a:r>
              <a:rPr lang="en-US" altLang="zh-CN" sz="1200" dirty="0">
                <a:solidFill>
                  <a:srgbClr val="FF0000"/>
                </a:solidFill>
              </a:rPr>
              <a:t>35,306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84095" y="3796359"/>
            <a:ext cx="2047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数据可否定期（如每日）自动更新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9774" y="148818"/>
            <a:ext cx="10515600" cy="97206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我要发布</a:t>
            </a:r>
            <a:r>
              <a:rPr lang="zh-CN" altLang="en-US" sz="2000" dirty="0"/>
              <a:t>（版块说明：这个板块为“</a:t>
            </a:r>
            <a:r>
              <a:rPr lang="zh-CN" altLang="en-US" sz="2000" b="1" dirty="0">
                <a:solidFill>
                  <a:srgbClr val="FF0000"/>
                </a:solidFill>
              </a:rPr>
              <a:t>持牌法团</a:t>
            </a:r>
            <a:r>
              <a:rPr lang="zh-CN" altLang="en-US" sz="2000" b="1" dirty="0"/>
              <a:t>”</a:t>
            </a:r>
            <a:r>
              <a:rPr lang="zh-CN" altLang="en-US" sz="2000" dirty="0"/>
              <a:t>、“</a:t>
            </a:r>
            <a:r>
              <a:rPr lang="zh-CN" altLang="en-US" sz="2000" b="1" dirty="0">
                <a:solidFill>
                  <a:srgbClr val="FF0000"/>
                </a:solidFill>
              </a:rPr>
              <a:t>中介服务机构</a:t>
            </a:r>
            <a:r>
              <a:rPr lang="zh-CN" altLang="en-US" sz="2000" dirty="0">
                <a:solidFill>
                  <a:srgbClr val="FF0000"/>
                </a:solidFill>
              </a:rPr>
              <a:t>”</a:t>
            </a:r>
            <a:r>
              <a:rPr lang="zh-CN" altLang="en-US" sz="2000" dirty="0"/>
              <a:t>以及“</a:t>
            </a:r>
            <a:r>
              <a:rPr lang="zh-CN" altLang="en-US" sz="2000" b="1" dirty="0">
                <a:solidFill>
                  <a:srgbClr val="FF0000"/>
                </a:solidFill>
              </a:rPr>
              <a:t>业务信息</a:t>
            </a:r>
            <a:r>
              <a:rPr lang="zh-CN" altLang="en-US" sz="2000" dirty="0"/>
              <a:t>” 提供发布和展示的窗口 ）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496529" y="1120879"/>
            <a:ext cx="11187472" cy="559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页面参考内容如下：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发布内容：□公司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</a:rPr>
              <a:t>机构介绍    □业务信息    □其他</a:t>
            </a:r>
            <a:r>
              <a:rPr lang="en-US" altLang="zh-CN" sz="1600" b="1" u="sng" dirty="0">
                <a:solidFill>
                  <a:srgbClr val="FF0000"/>
                </a:solidFill>
              </a:rPr>
              <a:t>______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机构类型：□持牌法团    □会计师事务所   □律师行    □合规顾问   □其他</a:t>
            </a:r>
            <a:r>
              <a:rPr lang="en-US" altLang="zh-CN" sz="1600" b="1" dirty="0">
                <a:solidFill>
                  <a:srgbClr val="FF0000"/>
                </a:solidFill>
              </a:rPr>
              <a:t>________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公司介绍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</a:rPr>
              <a:t>业务说明：文字填写，</a:t>
            </a:r>
            <a:r>
              <a:rPr lang="en-US" altLang="zh-CN" sz="1600" b="1" dirty="0">
                <a:solidFill>
                  <a:srgbClr val="FF0000"/>
                </a:solidFill>
              </a:rPr>
              <a:t>1000</a:t>
            </a:r>
            <a:r>
              <a:rPr lang="zh-CN" altLang="en-US" sz="1600" b="1" dirty="0">
                <a:solidFill>
                  <a:srgbClr val="FF0000"/>
                </a:solidFill>
              </a:rPr>
              <a:t>字以内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公司网址（如有）：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公司地址：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电话：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邮箱：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图片（如有）：可上传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</a:rPr>
              <a:t>*</a:t>
            </a:r>
            <a:r>
              <a:rPr lang="zh-CN" altLang="en-US" sz="1600" b="1" dirty="0">
                <a:solidFill>
                  <a:srgbClr val="FF0000"/>
                </a:solidFill>
              </a:rPr>
              <a:t>所有的“公司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</a:rPr>
              <a:t>机构介绍” ，可否形成一个列表，按时间顺序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</a:rPr>
              <a:t>浏览热度进行排序，类似贴吧有置顶功能，对于高浏览量或者未来付费用户可以置顶，同时，置顶的公司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</a:rPr>
              <a:t>机构，会出现在首页的图片滚动栏，类似“贴吧</a:t>
            </a:r>
            <a:r>
              <a:rPr lang="en-US" altLang="zh-CN" sz="1600" b="1" dirty="0">
                <a:solidFill>
                  <a:srgbClr val="FF0000"/>
                </a:solidFill>
              </a:rPr>
              <a:t>+</a:t>
            </a:r>
            <a:r>
              <a:rPr lang="zh-CN" altLang="en-US" sz="1600" b="1" dirty="0">
                <a:solidFill>
                  <a:srgbClr val="FF0000"/>
                </a:solidFill>
              </a:rPr>
              <a:t>黄页”的形式，可以自行发布，可以展示，也可以查询。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“业务信息”也采用一样的模式，但与“公司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</a:rPr>
              <a:t>机构介绍” 形成子分页，不混在一起，单独分开显示。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09657" y="47415"/>
            <a:ext cx="34412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50" b="1" dirty="0">
                <a:solidFill>
                  <a:srgbClr val="FF0000"/>
                </a:solidFill>
              </a:rPr>
              <a:t>为金融人士打造的开放式行业</a:t>
            </a:r>
            <a:r>
              <a:rPr lang="zh-CN" altLang="en-US" sz="1050" b="1" dirty="0">
                <a:solidFill>
                  <a:srgbClr val="FF0000"/>
                </a:solidFill>
              </a:rPr>
              <a:t>社区</a:t>
            </a:r>
            <a:r>
              <a:rPr lang="zh-TW" altLang="en-US" sz="1050" b="1" dirty="0">
                <a:solidFill>
                  <a:srgbClr val="FF0000"/>
                </a:solidFill>
              </a:rPr>
              <a:t>与</a:t>
            </a:r>
            <a:r>
              <a:rPr lang="zh-CN" altLang="en-US" sz="1050" b="1" dirty="0">
                <a:solidFill>
                  <a:srgbClr val="FF0000"/>
                </a:solidFill>
              </a:rPr>
              <a:t>资讯</a:t>
            </a:r>
            <a:r>
              <a:rPr lang="zh-TW" altLang="en-US" sz="1050" b="1" dirty="0">
                <a:solidFill>
                  <a:srgbClr val="FF0000"/>
                </a:solidFill>
              </a:rPr>
              <a:t>发布平台</a:t>
            </a:r>
            <a:endParaRPr lang="zh-CN" altLang="en-US" sz="105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45803" y="22326"/>
            <a:ext cx="563309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请修改为： 我要发布   牌照获取   牌照转让   </a:t>
            </a:r>
            <a:r>
              <a:rPr lang="en-US" altLang="zh-CN" sz="1200" b="1" dirty="0">
                <a:solidFill>
                  <a:srgbClr val="FF0000"/>
                </a:solidFill>
              </a:rPr>
              <a:t>RO</a:t>
            </a:r>
            <a:r>
              <a:rPr lang="zh-CN" altLang="en-US" sz="1200" b="1" dirty="0">
                <a:solidFill>
                  <a:srgbClr val="FF0000"/>
                </a:solidFill>
              </a:rPr>
              <a:t>资讯   </a:t>
            </a:r>
            <a:r>
              <a:rPr lang="en-US" altLang="zh-CN" sz="1200" b="1" dirty="0">
                <a:solidFill>
                  <a:srgbClr val="FF0000"/>
                </a:solidFill>
              </a:rPr>
              <a:t>CPT</a:t>
            </a:r>
            <a:r>
              <a:rPr lang="zh-CN" altLang="en-US" sz="1200" b="1" dirty="0">
                <a:solidFill>
                  <a:srgbClr val="FF0000"/>
                </a:solidFill>
              </a:rPr>
              <a:t>课程   登录   简体</a:t>
            </a:r>
            <a:r>
              <a:rPr lang="en-US" altLang="zh-CN" sz="1200" b="1" dirty="0">
                <a:solidFill>
                  <a:srgbClr val="FF0000"/>
                </a:solidFill>
              </a:rPr>
              <a:t>/EN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0536" y="334234"/>
            <a:ext cx="9571704" cy="25410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滚动图（内容来自“我要发布：公司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机构介绍”，</a:t>
            </a:r>
            <a:r>
              <a:rPr lang="en-US" altLang="zh-CN" dirty="0">
                <a:solidFill>
                  <a:schemeClr val="tx1"/>
                </a:solidFill>
              </a:rPr>
              <a:t>RO</a:t>
            </a:r>
            <a:r>
              <a:rPr lang="zh-CN" altLang="en-US" dirty="0">
                <a:solidFill>
                  <a:schemeClr val="tx1"/>
                </a:solidFill>
              </a:rPr>
              <a:t>资讯、</a:t>
            </a:r>
            <a:r>
              <a:rPr lang="en-US" altLang="zh-CN" dirty="0">
                <a:solidFill>
                  <a:schemeClr val="tx1"/>
                </a:solidFill>
              </a:rPr>
              <a:t>CPT</a:t>
            </a:r>
            <a:r>
              <a:rPr lang="zh-CN" altLang="en-US" dirty="0">
                <a:solidFill>
                  <a:schemeClr val="tx1"/>
                </a:solidFill>
              </a:rPr>
              <a:t>课程）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0537" y="-12585"/>
            <a:ext cx="579120" cy="3468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LOGO</a:t>
            </a:r>
            <a:endParaRPr lang="zh-CN" altLang="en-US" sz="105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0536" y="3017520"/>
            <a:ext cx="9571704" cy="33832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公司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机构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业务信息栏（类似贴吧模式）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0536" y="6523766"/>
            <a:ext cx="9571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Roboto" panose="02000000000000000000" pitchFamily="2" charset="0"/>
              </a:rPr>
              <a:t>© 2025 RO149 </a:t>
            </a:r>
            <a:r>
              <a:rPr lang="zh-CN" altLang="en-US" sz="1200" b="0" i="0" dirty="0">
                <a:effectLst/>
                <a:latin typeface="Roboto" panose="02000000000000000000" pitchFamily="2" charset="0"/>
              </a:rPr>
              <a:t>版权所有                                                                                                                                                   联络我们：</a:t>
            </a:r>
            <a:r>
              <a:rPr lang="en-US" altLang="zh-CN" sz="1200" b="0" i="0" dirty="0">
                <a:effectLst/>
                <a:latin typeface="Roboto" panose="02000000000000000000" pitchFamily="2" charset="0"/>
              </a:rPr>
              <a:t>enquiry@</a:t>
            </a:r>
            <a:r>
              <a:rPr lang="en-US" altLang="zh-CN" sz="1200" dirty="0">
                <a:latin typeface="Roboto" panose="02000000000000000000" pitchFamily="2" charset="0"/>
              </a:rPr>
              <a:t>ro1</a:t>
            </a:r>
            <a:r>
              <a:rPr lang="en-US" altLang="zh-CN" sz="1200" b="0" i="0" dirty="0">
                <a:effectLst/>
                <a:latin typeface="Roboto" panose="02000000000000000000" pitchFamily="2" charset="0"/>
              </a:rPr>
              <a:t>49.com</a:t>
            </a:r>
            <a:endParaRPr lang="zh-CN" altLang="en-US" sz="1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0302240" y="2602021"/>
            <a:ext cx="19061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仅供参考，请结合实际操作经验，给予优化建议，谢谢！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26181"/>
            <a:ext cx="12192000" cy="557747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2477729" y="1632155"/>
            <a:ext cx="8809703" cy="43655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700981" y="1740310"/>
            <a:ext cx="9094838" cy="34855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26400" y="325772"/>
            <a:ext cx="1999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此页删除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6589697" cy="36071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225" y="0"/>
            <a:ext cx="5997677" cy="332957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4612" y="3707518"/>
            <a:ext cx="11127948" cy="2644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“牌照申请” 和“牌照收购” 两个页面合并，改为：“牌照获取”，页面参考内容如下： 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获取牌照方式： □申请    □收购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申请人类别： ○公司 ○个人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申请人名称：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拟获取牌照类型： □ </a:t>
            </a:r>
            <a:r>
              <a:rPr lang="en-US" altLang="zh-CN" sz="1400" b="1" dirty="0">
                <a:solidFill>
                  <a:srgbClr val="FF0000"/>
                </a:solidFill>
              </a:rPr>
              <a:t>Type1 </a:t>
            </a:r>
            <a:r>
              <a:rPr lang="zh-CN" altLang="en-US" sz="1400" b="1" dirty="0">
                <a:solidFill>
                  <a:srgbClr val="FF0000"/>
                </a:solidFill>
              </a:rPr>
              <a:t>□ </a:t>
            </a:r>
            <a:r>
              <a:rPr lang="en-US" altLang="zh-CN" sz="1400" b="1" dirty="0">
                <a:solidFill>
                  <a:srgbClr val="FF0000"/>
                </a:solidFill>
              </a:rPr>
              <a:t>Type4 </a:t>
            </a:r>
            <a:r>
              <a:rPr lang="zh-CN" altLang="en-US" sz="1400" b="1" dirty="0">
                <a:solidFill>
                  <a:srgbClr val="FF0000"/>
                </a:solidFill>
              </a:rPr>
              <a:t>□ </a:t>
            </a:r>
            <a:r>
              <a:rPr lang="en-US" altLang="zh-CN" sz="1400" b="1" dirty="0">
                <a:solidFill>
                  <a:srgbClr val="FF0000"/>
                </a:solidFill>
              </a:rPr>
              <a:t>Type6 </a:t>
            </a:r>
            <a:r>
              <a:rPr lang="zh-CN" altLang="en-US" sz="1400" b="1" dirty="0">
                <a:solidFill>
                  <a:srgbClr val="FF0000"/>
                </a:solidFill>
              </a:rPr>
              <a:t>□</a:t>
            </a:r>
            <a:r>
              <a:rPr lang="en-US" altLang="zh-CN" sz="1400" b="1" dirty="0">
                <a:solidFill>
                  <a:srgbClr val="FF0000"/>
                </a:solidFill>
              </a:rPr>
              <a:t> Type9</a:t>
            </a:r>
            <a:r>
              <a:rPr lang="zh-CN" altLang="en-US" sz="1400" b="1" dirty="0">
                <a:solidFill>
                  <a:srgbClr val="FF0000"/>
                </a:solidFill>
              </a:rPr>
              <a:t>，其他 </a:t>
            </a:r>
            <a:r>
              <a:rPr lang="en-US" altLang="zh-CN" sz="1400" b="1" dirty="0">
                <a:solidFill>
                  <a:srgbClr val="FF0000"/>
                </a:solidFill>
              </a:rPr>
              <a:t>_______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联系电话：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电子邮箱：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微信号：     </a:t>
            </a:r>
            <a:r>
              <a:rPr lang="en-US" altLang="zh-CN" sz="1400" b="1" dirty="0">
                <a:solidFill>
                  <a:srgbClr val="FF0000"/>
                </a:solidFill>
              </a:rPr>
              <a:t>      </a:t>
            </a:r>
            <a:r>
              <a:rPr lang="zh-CN" altLang="en-US" sz="1400" b="1" dirty="0">
                <a:solidFill>
                  <a:srgbClr val="FF0000"/>
                </a:solidFill>
              </a:rPr>
              <a:t> 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5587" y="106168"/>
            <a:ext cx="7516016" cy="664566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893574" y="2694038"/>
            <a:ext cx="1406013" cy="7349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496723" y="2669459"/>
            <a:ext cx="1406013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095023" y="2629509"/>
            <a:ext cx="281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改为：是否有控股架构？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5135" y="1749521"/>
            <a:ext cx="29693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增加：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牌照成立日期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股东人数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是否有控股架构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控股公司是否一同出售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总员工数量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总员工薪酬（包含</a:t>
            </a:r>
            <a:r>
              <a:rPr lang="en-US" altLang="zh-CN" b="1" dirty="0">
                <a:solidFill>
                  <a:srgbClr val="FF0000"/>
                </a:solidFill>
              </a:rPr>
              <a:t>RO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050890" y="2831690"/>
            <a:ext cx="10323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299587" y="2647024"/>
            <a:ext cx="1135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此项删除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23071" y="106168"/>
            <a:ext cx="1406013" cy="369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476568" y="135664"/>
            <a:ext cx="1135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牌照转让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991896" y="290834"/>
            <a:ext cx="10323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638" y="145040"/>
            <a:ext cx="9155056" cy="656791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08025" y="2075912"/>
            <a:ext cx="3156156" cy="337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请从</a:t>
            </a:r>
            <a:r>
              <a:rPr lang="en-US" altLang="zh-CN" b="1" dirty="0">
                <a:solidFill>
                  <a:srgbClr val="FF0000"/>
                </a:solidFill>
              </a:rPr>
              <a:t>HKAWM</a:t>
            </a:r>
            <a:r>
              <a:rPr lang="zh-CN" altLang="en-US" b="1" dirty="0">
                <a:solidFill>
                  <a:srgbClr val="FF0000"/>
                </a:solidFill>
              </a:rPr>
              <a:t>（小鹅通）课程平台，获取课程内容，此处显示：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课程图片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题目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语言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小时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显示</a:t>
            </a:r>
            <a:r>
              <a:rPr lang="en-US" altLang="zh-CN" b="1" dirty="0">
                <a:solidFill>
                  <a:srgbClr val="FF0000"/>
                </a:solidFill>
              </a:rPr>
              <a:t>6-9</a:t>
            </a:r>
            <a:r>
              <a:rPr lang="zh-CN" altLang="en-US" b="1" dirty="0">
                <a:solidFill>
                  <a:srgbClr val="FF0000"/>
                </a:solidFill>
              </a:rPr>
              <a:t>们课程。点击后跳转至</a:t>
            </a:r>
            <a:r>
              <a:rPr lang="en-US" altLang="zh-CN" b="1" dirty="0">
                <a:solidFill>
                  <a:srgbClr val="FF0000"/>
                </a:solidFill>
              </a:rPr>
              <a:t>HKAWM</a:t>
            </a:r>
            <a:r>
              <a:rPr lang="zh-CN" altLang="en-US" b="1" dirty="0">
                <a:solidFill>
                  <a:srgbClr val="FF0000"/>
                </a:solidFill>
              </a:rPr>
              <a:t>（小鹅通）课程平台，用户可通过微信注册登录。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1333</Words>
  <Application>WPS 演示</Application>
  <PresentationFormat>宽屏</PresentationFormat>
  <Paragraphs>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Roboto</vt:lpstr>
      <vt:lpstr>Times New Roman</vt:lpstr>
      <vt:lpstr>Calibri</vt:lpstr>
      <vt:lpstr>PMingLiU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我要发布（版块说明：这个板块为“持牌法团”、“中介服务机构”以及“业务信息” 提供发布和展示的窗口 ）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 SilkyWater</dc:creator>
  <cp:lastModifiedBy>张水筑-工位智能信息化+精益生产</cp:lastModifiedBy>
  <cp:revision>7</cp:revision>
  <dcterms:created xsi:type="dcterms:W3CDTF">2025-11-26T12:09:00Z</dcterms:created>
  <dcterms:modified xsi:type="dcterms:W3CDTF">2025-11-30T03:35:26Z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8C768983329048F48FFCDA9AE2806805_13</vt:lpwstr>
  </property>
  <property fmtid="{D5CDD505-2E9C-101B-9397-08002B2CF9AE}" pid="3" name="KSOProductBuildVer">
    <vt:lpwstr>2052-12.1.0.23542</vt:lpwstr>
  </property>
</Properties>
</file>